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c3195c7-9f92-e5ea-ae24-55b17b525a01}">
          <p14:sldIdLst>
            <p14:sldId id="256"/>
            <p14:sldId id="257"/>
          </p14:sldIdLst>
        </p14:section>
        <p14:section name="Проектирование" id="{ee5e1fdf-caa7-8617-350f-c3786d62ff6b}">
          <p14:sldIdLst>
            <p14:sldId id="258"/>
            <p14:sldId id="259"/>
          </p14:sldIdLst>
        </p14:section>
        <p14:section name="Результат" id="{34203794-23a3-521f-a2cc-e3c2dc59318d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Наша команда представляет проект «Запись на услуги» — веб-приложение, которое заменяет бумажный журнал записи небольшой студии красоты. Студия «Лаванда» — условный заказчик. В команде три человека: аналитик, проектировщик и разработчик; каждый расскажет о своей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администратор записывает клиентов в бумажный журнал. Из-за этого долго ищется свободное время, случаются двойные записи — ведь услуги длятся от 40 минут до двух часов, — а отмены превращаются в зачёркивания. Цель проекта — электронный журнал, который сам проверяет данные и не даёт записать двух клиентов к одному мастеру на одно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техническом задании 11 функциональных, 6 нефункциональных требований и 6 требований безопасности. По ходу работы заказчик дважды менял требования: попросил проверку занятости мастера и чтобы отмена не удаляла запись, а меняла статус. Оба изменения записаны в журнал. Мы выбрали Waterfall, потому что срок фиксирован и требования известны заранее, а задачи вели на Kanban-доске.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Диаграмма вариантов использования показывает, что делает администратор: просматривает список, создаёт, изменяет, отменяет и удаляет записи. При создании и изменении всегда выполняется проверка данных и занятости — это отношение include. Логическая модель содержит три сущности: Клиент, Услуга и Запись, связи один ко многим. В коде, как разрешено заданием, используется один массив записей в localStorage. Также построены IDEF0, диаграмма классов и макеты — они в отчёте.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Сайт сделан на чистых HTML, CSS и JavaScript и открывается локально двойным щелчком. На скриншоте — раздел «Записи»: слева форма, справа список с поиском, фильтрами и кнопками действий. Статусы выделены цветом, отменённые записи приглушены. Введённый текст выводится как текст, а не как HTML. Данные хранятся в localStorage и не пропадают после перезагрузки.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составили 15 тестов по требованиям ТЗ: основные операции, проверка полей, занятость мастера, сохранение после перезагрузки, поиск, а также безопасность — HTML-код в комментарии выводится как текст, а при повреждённых данных сайт не падает и сохраняет резервную копию. Все 15 тестов пройдены.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покажем работу сайта: добавим запись, изменим её, отменим или удалим и обновим страницу — данные останутся. Итог: спроектирована и реализована система записи, все требования выполнены, 15 тестов пройдены. Каждый участник коротко рассказывает о своём вкладе.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126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Заголовок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126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Подзаголовок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Заголовок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Заголовок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Запись на услуги · студия «Лаванда» · ПО2401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на услуги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Веб-приложение для студии красоты «Лаванда»</a:t>
            </a:r>
            <a:endParaRPr lang="en-US" sz="2200" dirty="0"/>
          </a:p>
        </p:txBody>
      </p:sp>
      <p:sp>
        <p:nvSpPr>
          <p:cNvPr id="4" name="Проект и группа"/>
          <p:cNvSpPr txBox="1"/>
          <p:nvPr/>
        </p:nvSpPr>
        <p:spPr>
          <a:xfrm>
            <a:off x="640080" y="33375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Итоговый проект «Проектирование и создание веб-сайта»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Производственная практика · группа ПО2401 · 2026</a:t>
            </a:r>
            <a:endParaRPr lang="en-US" sz="1500" dirty="0"/>
          </a:p>
        </p:txBody>
      </p:sp>
      <p:sp>
        <p:nvSpPr>
          <p:cNvPr id="5" name="Команда"/>
          <p:cNvSpPr txBox="1"/>
          <p:nvPr/>
        </p:nvSpPr>
        <p:spPr>
          <a:xfrm>
            <a:off x="640080" y="43434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Команда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Фамилия И. О. — аналитик, тестировщик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Фамилия И. О. — проектировщик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Фамилия И. О. — разработчик</a:t>
            </a:r>
            <a:endParaRPr lang="en-US" sz="1500" dirty="0"/>
          </a:p>
        </p:txBody>
      </p:sp>
      <p:sp>
        <p:nvSpPr>
          <p:cNvPr id="6" name="Скриншот главной страницы рамка"/>
          <p:cNvSpPr/>
          <p:nvPr/>
        </p:nvSpPr>
        <p:spPr>
          <a:xfrm>
            <a:off x="7104888" y="1344168"/>
            <a:ext cx="4626864" cy="3493008"/>
          </a:xfrm>
          <a:prstGeom prst="roundRect">
            <a:avLst>
              <a:gd name="adj" fmla="val 2094"/>
            </a:avLst>
          </a:prstGeom>
          <a:solidFill>
            <a:schemeClr val="bg1"/>
          </a:solidFill>
          <a:ln w="12700">
            <a:solidFill>
              <a:srgbClr val="D8CFF0"/>
            </a:solidFill>
            <a:prstDash val="solid"/>
          </a:ln>
          <a:effectLst>
            <a:outerShdw sx="100000" sy="100000" kx="0" ky="0" algn="bl" rotWithShape="0" blurRad="101600" dist="25400" dir="5400000">
              <a:srgbClr val="2A2140">
                <a:alpha val="18000"/>
              </a:srgbClr>
            </a:outerShdw>
          </a:effectLst>
        </p:spPr>
      </p:sp>
      <p:pic>
        <p:nvPicPr>
          <p:cNvPr id="7" name="Скриншот главной страницы" descr="Скриншот главной страниц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417320"/>
            <a:ext cx="4480560" cy="3346704"/>
          </a:xfrm>
          <a:prstGeom prst="rect">
            <a:avLst/>
          </a:prstGeom>
        </p:spPr>
      </p:pic>
      <p:sp>
        <p:nvSpPr>
          <p:cNvPr id="8" name="Подпись скриншота"/>
          <p:cNvSpPr txBox="1"/>
          <p:nvPr/>
        </p:nvSpPr>
        <p:spPr>
          <a:xfrm>
            <a:off x="7178040" y="4892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Главная страница сайта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и цель</a:t>
            </a:r>
            <a:endParaRPr lang="en-US" sz="3600" dirty="0"/>
          </a:p>
        </p:txBody>
      </p:sp>
      <p:sp>
        <p:nvSpPr>
          <p:cNvPr id="3" name="Проблема 1 круг"/>
          <p:cNvSpPr/>
          <p:nvPr/>
        </p:nvSpPr>
        <p:spPr>
          <a:xfrm>
            <a:off x="548640" y="15361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Проблема 1 номер"/>
          <p:cNvSpPr txBox="1"/>
          <p:nvPr/>
        </p:nvSpPr>
        <p:spPr>
          <a:xfrm>
            <a:off x="54864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Проблема 1 текст"/>
          <p:cNvSpPr txBox="1"/>
          <p:nvPr/>
        </p:nvSpPr>
        <p:spPr>
          <a:xfrm>
            <a:off x="1325880" y="1463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Долгий поиск свободного времени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администратор листает журнал, клиент ждёт на линии</a:t>
            </a:r>
            <a:endParaRPr lang="en-US" sz="1800" dirty="0"/>
          </a:p>
        </p:txBody>
      </p:sp>
      <p:sp>
        <p:nvSpPr>
          <p:cNvPr id="6" name="Проблема 2 круг"/>
          <p:cNvSpPr/>
          <p:nvPr/>
        </p:nvSpPr>
        <p:spPr>
          <a:xfrm>
            <a:off x="548640" y="261518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Проблема 2 номер"/>
          <p:cNvSpPr txBox="1"/>
          <p:nvPr/>
        </p:nvSpPr>
        <p:spPr>
          <a:xfrm>
            <a:off x="54864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Проблема 2 текст"/>
          <p:cNvSpPr txBox="1"/>
          <p:nvPr/>
        </p:nvSpPr>
        <p:spPr>
          <a:xfrm>
            <a:off x="1325880" y="25420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Двойные записи к мастеру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длительность услуг (40–120 мин) считается вручную</a:t>
            </a:r>
            <a:endParaRPr lang="en-US" sz="1800" dirty="0"/>
          </a:p>
        </p:txBody>
      </p:sp>
      <p:sp>
        <p:nvSpPr>
          <p:cNvPr id="9" name="Проблема 3 круг"/>
          <p:cNvSpPr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Проблема 3 номер"/>
          <p:cNvSpPr txBox="1"/>
          <p:nvPr/>
        </p:nvSpPr>
        <p:spPr>
          <a:xfrm>
            <a:off x="54864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Проблема 3 текст"/>
          <p:cNvSpPr txBox="1"/>
          <p:nvPr/>
        </p:nvSpPr>
        <p:spPr>
          <a:xfrm>
            <a:off x="1325880" y="362102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Исправления и зачёркивания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переносы и отмены портят журнал, запись трудно найти</a:t>
            </a:r>
            <a:endParaRPr lang="en-US" sz="1800" dirty="0"/>
          </a:p>
        </p:txBody>
      </p:sp>
      <p:sp>
        <p:nvSpPr>
          <p:cNvPr id="12" name="Проблема 4 круг"/>
          <p:cNvSpPr/>
          <p:nvPr/>
        </p:nvSpPr>
        <p:spPr>
          <a:xfrm>
            <a:off x="548640" y="47731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Проблема 4 номер"/>
          <p:cNvSpPr txBox="1"/>
          <p:nvPr/>
        </p:nvSpPr>
        <p:spPr>
          <a:xfrm>
            <a:off x="54864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Проблема 4 текст"/>
          <p:cNvSpPr txBox="1"/>
          <p:nvPr/>
        </p:nvSpPr>
        <p:spPr>
          <a:xfrm>
            <a:off x="1325880" y="470001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Нет поиска и истории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журнал в одном экземпляре, статистики отмен нет</a:t>
            </a:r>
            <a:endParaRPr lang="en-US" sz="1800" dirty="0"/>
          </a:p>
        </p:txBody>
      </p:sp>
      <p:sp>
        <p:nvSpPr>
          <p:cNvPr id="15" name="Карточка цели"/>
          <p:cNvSpPr/>
          <p:nvPr/>
        </p:nvSpPr>
        <p:spPr>
          <a:xfrm>
            <a:off x="6675120" y="1463040"/>
            <a:ext cx="493776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Цель заголовок"/>
          <p:cNvSpPr txBox="1"/>
          <p:nvPr/>
        </p:nvSpPr>
        <p:spPr>
          <a:xfrm>
            <a:off x="704088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проекта</a:t>
            </a:r>
            <a:endParaRPr lang="en-US" sz="2200" dirty="0"/>
          </a:p>
        </p:txBody>
      </p:sp>
      <p:sp>
        <p:nvSpPr>
          <p:cNvPr id="17" name="Цель текст"/>
          <p:cNvSpPr txBox="1"/>
          <p:nvPr/>
        </p:nvSpPr>
        <p:spPr>
          <a:xfrm>
            <a:off x="7040880" y="224028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Электронный журнал записи: создание, просмотр, изменение, отмена и удаление записей с автоматической проверкой данных и занятости мастера.</a:t>
            </a:r>
            <a:endParaRPr lang="en-US" sz="1800" dirty="0"/>
          </a:p>
        </p:txBody>
      </p:sp>
      <p:sp>
        <p:nvSpPr>
          <p:cNvPr id="18" name="Факт 1"/>
          <p:cNvSpPr txBox="1"/>
          <p:nvPr/>
        </p:nvSpPr>
        <p:spPr>
          <a:xfrm>
            <a:off x="7040880" y="4251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услуг</a:t>
            </a:r>
            <a:endParaRPr lang="en-US" sz="2800" dirty="0"/>
          </a:p>
        </p:txBody>
      </p:sp>
      <p:sp>
        <p:nvSpPr>
          <p:cNvPr id="19" name="Факт 2"/>
          <p:cNvSpPr txBox="1"/>
          <p:nvPr/>
        </p:nvSpPr>
        <p:spPr>
          <a:xfrm>
            <a:off x="8458200" y="4251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09–21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график</a:t>
            </a:r>
            <a:endParaRPr lang="en-US" sz="2800" dirty="0"/>
          </a:p>
        </p:txBody>
      </p:sp>
      <p:sp>
        <p:nvSpPr>
          <p:cNvPr id="20" name="Факт 3"/>
          <p:cNvSpPr txBox="1"/>
          <p:nvPr/>
        </p:nvSpPr>
        <p:spPr>
          <a:xfrm>
            <a:off x="9875520" y="42519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пользователь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и методология</a:t>
            </a:r>
            <a:endParaRPr lang="en-US" sz="3600" dirty="0"/>
          </a:p>
        </p:txBody>
      </p:sp>
      <p:sp>
        <p:nvSpPr>
          <p:cNvPr id="3" name="Показатель 1"/>
          <p:cNvSpPr/>
          <p:nvPr/>
        </p:nvSpPr>
        <p:spPr>
          <a:xfrm>
            <a:off x="548640" y="137160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Показатель 1 текст"/>
          <p:cNvSpPr txBox="1"/>
          <p:nvPr/>
        </p:nvSpPr>
        <p:spPr>
          <a:xfrm>
            <a:off x="777240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11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функциональных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требований</a:t>
            </a:r>
            <a:endParaRPr lang="en-US" sz="4000" dirty="0"/>
          </a:p>
        </p:txBody>
      </p:sp>
      <p:sp>
        <p:nvSpPr>
          <p:cNvPr id="5" name="Показатель 2"/>
          <p:cNvSpPr/>
          <p:nvPr/>
        </p:nvSpPr>
        <p:spPr>
          <a:xfrm>
            <a:off x="3364992" y="137160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Показатель 2 текст"/>
          <p:cNvSpPr txBox="1"/>
          <p:nvPr/>
        </p:nvSpPr>
        <p:spPr>
          <a:xfrm>
            <a:off x="3593592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нефункциональных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требований</a:t>
            </a:r>
            <a:endParaRPr lang="en-US" sz="4000" dirty="0"/>
          </a:p>
        </p:txBody>
      </p:sp>
      <p:sp>
        <p:nvSpPr>
          <p:cNvPr id="7" name="Показатель 3"/>
          <p:cNvSpPr/>
          <p:nvPr/>
        </p:nvSpPr>
        <p:spPr>
          <a:xfrm>
            <a:off x="6181344" y="137160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Показатель 3 текст"/>
          <p:cNvSpPr txBox="1"/>
          <p:nvPr/>
        </p:nvSpPr>
        <p:spPr>
          <a:xfrm>
            <a:off x="6409944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требований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безопасности</a:t>
            </a:r>
            <a:endParaRPr lang="en-US" sz="4000" dirty="0"/>
          </a:p>
        </p:txBody>
      </p:sp>
      <p:sp>
        <p:nvSpPr>
          <p:cNvPr id="9" name="Показатель 4"/>
          <p:cNvSpPr/>
          <p:nvPr/>
        </p:nvSpPr>
        <p:spPr>
          <a:xfrm>
            <a:off x="8997696" y="1371600"/>
            <a:ext cx="26060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Показатель 4 текст"/>
          <p:cNvSpPr txBox="1"/>
          <p:nvPr/>
        </p:nvSpPr>
        <p:spPr>
          <a:xfrm>
            <a:off x="9226296" y="1463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изменения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 заказчика</a:t>
            </a:r>
            <a:endParaRPr lang="en-US" sz="4000" dirty="0"/>
          </a:p>
        </p:txBody>
      </p:sp>
      <p:sp>
        <p:nvSpPr>
          <p:cNvPr id="11" name="Методология заголовок"/>
          <p:cNvSpPr txBox="1"/>
          <p:nvPr/>
        </p:nvSpPr>
        <p:spPr>
          <a:xfrm>
            <a:off x="54864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+ Kanban</a:t>
            </a:r>
            <a:endParaRPr lang="en-US" sz="2200" dirty="0"/>
          </a:p>
        </p:txBody>
      </p:sp>
      <p:sp>
        <p:nvSpPr>
          <p:cNvPr id="12" name="Методология причины"/>
          <p:cNvSpPr txBox="1"/>
          <p:nvPr/>
        </p:nvSpPr>
        <p:spPr>
          <a:xfrm>
            <a:off x="548640" y="35204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фиксированный срок: 4 недели, у каждой свой результат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требования известны из задания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на каждом этапе сдаются документы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Kanban-доска «Нужно / В работе / Готово», WIP-лимит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изменения требований — через журнал изменений</a:t>
            </a:r>
            <a:endParaRPr lang="en-US" sz="1500" dirty="0"/>
          </a:p>
        </p:txBody>
      </p:sp>
      <p:sp>
        <p:nvSpPr>
          <p:cNvPr id="13" name="Kanban-доска рамка"/>
          <p:cNvSpPr/>
          <p:nvPr/>
        </p:nvSpPr>
        <p:spPr>
          <a:xfrm>
            <a:off x="6053328" y="2944368"/>
            <a:ext cx="5586984" cy="3154680"/>
          </a:xfrm>
          <a:prstGeom prst="roundRect">
            <a:avLst>
              <a:gd name="adj" fmla="val 2319"/>
            </a:avLst>
          </a:prstGeom>
          <a:solidFill>
            <a:schemeClr val="bg1"/>
          </a:solidFill>
          <a:ln w="12700">
            <a:solidFill>
              <a:srgbClr val="D8CFF0"/>
            </a:solidFill>
            <a:prstDash val="solid"/>
          </a:ln>
          <a:effectLst>
            <a:outerShdw sx="100000" sy="100000" kx="0" ky="0" algn="bl" rotWithShape="0" blurRad="101600" dist="25400" dir="5400000">
              <a:srgbClr val="2A2140">
                <a:alpha val="18000"/>
              </a:srgbClr>
            </a:outerShdw>
          </a:effectLst>
        </p:spPr>
      </p:sp>
      <p:pic>
        <p:nvPicPr>
          <p:cNvPr id="14" name="Kanban-доска" descr="Kanban-дос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3017520"/>
            <a:ext cx="5440680" cy="30083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диаграммы</a:t>
            </a:r>
            <a:endParaRPr lang="en-US" sz="3600" dirty="0"/>
          </a:p>
        </p:txBody>
      </p:sp>
      <p:sp>
        <p:nvSpPr>
          <p:cNvPr id="3" name="Диаграмма Use Case рамка"/>
          <p:cNvSpPr/>
          <p:nvPr/>
        </p:nvSpPr>
        <p:spPr>
          <a:xfrm>
            <a:off x="566928" y="1298448"/>
            <a:ext cx="5404104" cy="3730752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 w="12700">
            <a:solidFill>
              <a:srgbClr val="D8CFF0"/>
            </a:solidFill>
            <a:prstDash val="solid"/>
          </a:ln>
          <a:effectLst>
            <a:outerShdw sx="100000" sy="100000" kx="0" ky="0" algn="bl" rotWithShape="0" blurRad="101600" dist="25400" dir="5400000">
              <a:srgbClr val="2A2140">
                <a:alpha val="18000"/>
              </a:srgbClr>
            </a:outerShdw>
          </a:effectLst>
        </p:spPr>
      </p:sp>
      <p:pic>
        <p:nvPicPr>
          <p:cNvPr id="4" name="Диаграмма Use Case" descr="Диаграмма Use C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257800" cy="3584448"/>
          </a:xfrm>
          <a:prstGeom prst="rect">
            <a:avLst/>
          </a:prstGeom>
        </p:spPr>
      </p:pic>
      <p:sp>
        <p:nvSpPr>
          <p:cNvPr id="5" name="Подпись Use Case"/>
          <p:cNvSpPr txBox="1"/>
          <p:nvPr/>
        </p:nvSpPr>
        <p:spPr>
          <a:xfrm>
            <a:off x="548640" y="51206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UML Use Case: актор «Администратор», 7 вариантов использования; «include» — обязательная проверка данных и подтверждение действия</a:t>
            </a:r>
            <a:endParaRPr lang="en-US" sz="1300" dirty="0"/>
          </a:p>
        </p:txBody>
      </p:sp>
      <p:sp>
        <p:nvSpPr>
          <p:cNvPr id="6" name="Логическая модель данных рамка"/>
          <p:cNvSpPr/>
          <p:nvPr/>
        </p:nvSpPr>
        <p:spPr>
          <a:xfrm>
            <a:off x="6281928" y="1298448"/>
            <a:ext cx="5358384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D8CFF0"/>
            </a:solidFill>
            <a:prstDash val="solid"/>
          </a:ln>
          <a:effectLst>
            <a:outerShdw sx="100000" sy="100000" kx="0" ky="0" algn="bl" rotWithShape="0" blurRad="101600" dist="25400" dir="5400000">
              <a:srgbClr val="2A2140">
                <a:alpha val="18000"/>
              </a:srgbClr>
            </a:outerShdw>
          </a:effectLst>
        </p:spPr>
      </p:sp>
      <p:pic>
        <p:nvPicPr>
          <p:cNvPr id="7" name="Логическая модель данных" descr="Логическая модель данны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212080" cy="2779776"/>
          </a:xfrm>
          <a:prstGeom prst="rect">
            <a:avLst/>
          </a:prstGeom>
        </p:spPr>
      </p:pic>
      <p:sp>
        <p:nvSpPr>
          <p:cNvPr id="8" name="Подпись модели данных"/>
          <p:cNvSpPr txBox="1"/>
          <p:nvPr/>
        </p:nvSpPr>
        <p:spPr>
          <a:xfrm>
            <a:off x="6263640" y="43159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Логическая модель: Клиент 1:N Запись N:1 Услуга; запланированные записи на одну услугу не пересекаются по времени</a:t>
            </a:r>
            <a:endParaRPr lang="en-US" sz="1300" dirty="0"/>
          </a:p>
        </p:txBody>
      </p:sp>
      <p:sp>
        <p:nvSpPr>
          <p:cNvPr id="9" name="Ярлык IDEF0 A-0"/>
          <p:cNvSpPr/>
          <p:nvPr/>
        </p:nvSpPr>
        <p:spPr>
          <a:xfrm>
            <a:off x="6263640" y="516636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Ярлык IDEF0 A-0 текст"/>
          <p:cNvSpPr txBox="1"/>
          <p:nvPr/>
        </p:nvSpPr>
        <p:spPr>
          <a:xfrm>
            <a:off x="6263640" y="5166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IDEF0 A-0</a:t>
            </a:r>
            <a:endParaRPr lang="en-US" sz="1100" dirty="0"/>
          </a:p>
        </p:txBody>
      </p:sp>
      <p:sp>
        <p:nvSpPr>
          <p:cNvPr id="11" name="Ярлык UML Class"/>
          <p:cNvSpPr/>
          <p:nvPr/>
        </p:nvSpPr>
        <p:spPr>
          <a:xfrm>
            <a:off x="7635240" y="516636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Ярлык UML Class текст"/>
          <p:cNvSpPr txBox="1"/>
          <p:nvPr/>
        </p:nvSpPr>
        <p:spPr>
          <a:xfrm>
            <a:off x="7635240" y="5166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UML Class</a:t>
            </a:r>
            <a:endParaRPr lang="en-US" sz="1100" dirty="0"/>
          </a:p>
        </p:txBody>
      </p:sp>
      <p:sp>
        <p:nvSpPr>
          <p:cNvPr id="13" name="Ярлык План Waterfall"/>
          <p:cNvSpPr/>
          <p:nvPr/>
        </p:nvSpPr>
        <p:spPr>
          <a:xfrm>
            <a:off x="9006840" y="516636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Ярлык План Waterfall текст"/>
          <p:cNvSpPr txBox="1"/>
          <p:nvPr/>
        </p:nvSpPr>
        <p:spPr>
          <a:xfrm>
            <a:off x="9006840" y="5166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План Waterfall</a:t>
            </a:r>
            <a:endParaRPr lang="en-US" sz="1100" dirty="0"/>
          </a:p>
        </p:txBody>
      </p:sp>
      <p:sp>
        <p:nvSpPr>
          <p:cNvPr id="15" name="Ярлык Макеты 3 экранов"/>
          <p:cNvSpPr/>
          <p:nvPr/>
        </p:nvSpPr>
        <p:spPr>
          <a:xfrm>
            <a:off x="10378440" y="516636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Ярлык Макеты 3 экранов текст"/>
          <p:cNvSpPr txBox="1"/>
          <p:nvPr/>
        </p:nvSpPr>
        <p:spPr>
          <a:xfrm>
            <a:off x="10378440" y="5166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Макеты 3 экранов</a:t>
            </a:r>
            <a:endParaRPr lang="en-US" sz="1100" dirty="0"/>
          </a:p>
        </p:txBody>
      </p:sp>
      <p:sp>
        <p:nvSpPr>
          <p:cNvPr id="17" name="Примечание"/>
          <p:cNvSpPr txBox="1"/>
          <p:nvPr/>
        </p:nvSpPr>
        <p:spPr>
          <a:xfrm>
            <a:off x="6263640" y="5623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Остальные диаграммы и макеты — в отчёте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сайта</a:t>
            </a:r>
            <a:endParaRPr lang="en-US" sz="3600" dirty="0"/>
          </a:p>
        </p:txBody>
      </p:sp>
      <p:sp>
        <p:nvSpPr>
          <p:cNvPr id="3" name="Скриншот раздела Записи рамка"/>
          <p:cNvSpPr/>
          <p:nvPr/>
        </p:nvSpPr>
        <p:spPr>
          <a:xfrm>
            <a:off x="566928" y="1298448"/>
            <a:ext cx="6501384" cy="4736592"/>
          </a:xfrm>
          <a:prstGeom prst="roundRect">
            <a:avLst>
              <a:gd name="adj" fmla="val 1544"/>
            </a:avLst>
          </a:prstGeom>
          <a:solidFill>
            <a:schemeClr val="bg1"/>
          </a:solidFill>
          <a:ln w="12700">
            <a:solidFill>
              <a:srgbClr val="D8CFF0"/>
            </a:solidFill>
            <a:prstDash val="solid"/>
          </a:ln>
          <a:effectLst>
            <a:outerShdw sx="100000" sy="100000" kx="0" ky="0" algn="bl" rotWithShape="0" blurRad="101600" dist="25400" dir="5400000">
              <a:srgbClr val="2A2140">
                <a:alpha val="18000"/>
              </a:srgbClr>
            </a:outerShdw>
          </a:effectLst>
        </p:spPr>
      </p:sp>
      <p:pic>
        <p:nvPicPr>
          <p:cNvPr id="4" name="Скриншот раздела Записи" descr="Скриншот раздела Запис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355080" cy="4590288"/>
          </a:xfrm>
          <a:prstGeom prst="rect">
            <a:avLst/>
          </a:prstGeom>
        </p:spPr>
      </p:pic>
      <p:sp>
        <p:nvSpPr>
          <p:cNvPr id="5" name="Возможность 1"/>
          <p:cNvSpPr/>
          <p:nvPr/>
        </p:nvSpPr>
        <p:spPr>
          <a:xfrm>
            <a:off x="7406640" y="137160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Возможность 1 круг"/>
          <p:cNvSpPr/>
          <p:nvPr/>
        </p:nvSpPr>
        <p:spPr>
          <a:xfrm>
            <a:off x="76352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Возможность 1 номер"/>
          <p:cNvSpPr txBox="1"/>
          <p:nvPr/>
        </p:nvSpPr>
        <p:spPr>
          <a:xfrm>
            <a:off x="7635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Возможность 1 текст"/>
          <p:cNvSpPr txBox="1"/>
          <p:nvPr/>
        </p:nvSpPr>
        <p:spPr>
          <a:xfrm>
            <a:off x="8275320" y="1508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 раздела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«Главная» — сводка и услуги, «Записи» — CRUD, «О проекте»</a:t>
            </a:r>
            <a:endParaRPr lang="en-US" sz="1700" dirty="0"/>
          </a:p>
        </p:txBody>
      </p:sp>
      <p:sp>
        <p:nvSpPr>
          <p:cNvPr id="9" name="Возможность 2"/>
          <p:cNvSpPr/>
          <p:nvPr/>
        </p:nvSpPr>
        <p:spPr>
          <a:xfrm>
            <a:off x="7406640" y="2944368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Возможность 2 круг"/>
          <p:cNvSpPr/>
          <p:nvPr/>
        </p:nvSpPr>
        <p:spPr>
          <a:xfrm>
            <a:off x="7635240" y="3218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Возможность 2 номер"/>
          <p:cNvSpPr txBox="1"/>
          <p:nvPr/>
        </p:nvSpPr>
        <p:spPr>
          <a:xfrm>
            <a:off x="763524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Возможность 2 текст"/>
          <p:cNvSpPr txBox="1"/>
          <p:nvPr/>
        </p:nvSpPr>
        <p:spPr>
          <a:xfrm>
            <a:off x="8275320" y="308152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Проверки при сохранении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обязательные поля, телефон, дата, график 09:00–21:00, занятость мастера</a:t>
            </a:r>
            <a:endParaRPr lang="en-US" sz="1700" dirty="0"/>
          </a:p>
        </p:txBody>
      </p:sp>
      <p:sp>
        <p:nvSpPr>
          <p:cNvPr id="13" name="Возможность 3"/>
          <p:cNvSpPr/>
          <p:nvPr/>
        </p:nvSpPr>
        <p:spPr>
          <a:xfrm>
            <a:off x="7406640" y="4517136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Возможность 3 круг"/>
          <p:cNvSpPr/>
          <p:nvPr/>
        </p:nvSpPr>
        <p:spPr>
          <a:xfrm>
            <a:off x="7635240" y="4791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Возможность 3 номер"/>
          <p:cNvSpPr txBox="1"/>
          <p:nvPr/>
        </p:nvSpPr>
        <p:spPr>
          <a:xfrm>
            <a:off x="763524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Возможность 3 текст"/>
          <p:cNvSpPr txBox="1"/>
          <p:nvPr/>
        </p:nvSpPr>
        <p:spPr>
          <a:xfrm>
            <a:off x="8275320" y="4654296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Данные в localStorage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сохраняются после F5; повреждённые данные не ломают сайт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функций</a:t>
            </a:r>
            <a:endParaRPr lang="en-US" sz="3600" dirty="0"/>
          </a:p>
        </p:txBody>
      </p:sp>
      <p:sp>
        <p:nvSpPr>
          <p:cNvPr id="3" name="Итог тестирования"/>
          <p:cNvSpPr/>
          <p:nvPr/>
        </p:nvSpPr>
        <p:spPr>
          <a:xfrm>
            <a:off x="548640" y="1371600"/>
            <a:ext cx="3840480" cy="4526280"/>
          </a:xfrm>
          <a:prstGeom prst="roundRect">
            <a:avLst>
              <a:gd name="adj" fmla="val 28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Итог тестирования текст"/>
          <p:cNvSpPr txBox="1"/>
          <p:nvPr/>
        </p:nvSpPr>
        <p:spPr>
          <a:xfrm>
            <a:off x="868680" y="164592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15 / 15</a:t>
            </a:r>
            <a:endParaRPr lang="en-US" sz="66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тестов пройдено</a:t>
            </a:r>
            <a:endParaRPr lang="en-US" sz="66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6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Google Chrome, Windows 11; сайт открыт как локальный файл</a:t>
            </a:r>
            <a:endParaRPr lang="en-US" sz="6600" dirty="0"/>
          </a:p>
        </p:txBody>
      </p:sp>
      <p:sp>
        <p:nvSpPr>
          <p:cNvPr id="5" name="Группа тестов 1"/>
          <p:cNvSpPr/>
          <p:nvPr/>
        </p:nvSpPr>
        <p:spPr>
          <a:xfrm>
            <a:off x="4754880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Группа тестов 1 круг"/>
          <p:cNvSpPr/>
          <p:nvPr/>
        </p:nvSpPr>
        <p:spPr>
          <a:xfrm>
            <a:off x="4956048" y="18653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Группа тестов 1 номер"/>
          <p:cNvSpPr txBox="1"/>
          <p:nvPr/>
        </p:nvSpPr>
        <p:spPr>
          <a:xfrm>
            <a:off x="49560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Группа тестов 1 текст"/>
          <p:cNvSpPr txBox="1"/>
          <p:nvPr/>
        </p:nvSpPr>
        <p:spPr>
          <a:xfrm>
            <a:off x="548640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Создание и изменение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запись в списке, правки сохраняются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Т-03, Т-08</a:t>
            </a:r>
            <a:endParaRPr lang="en-US" sz="1600" dirty="0"/>
          </a:p>
        </p:txBody>
      </p:sp>
      <p:sp>
        <p:nvSpPr>
          <p:cNvPr id="9" name="Группа тестов 2"/>
          <p:cNvSpPr/>
          <p:nvPr/>
        </p:nvSpPr>
        <p:spPr>
          <a:xfrm>
            <a:off x="8229600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Группа тестов 2 круг"/>
          <p:cNvSpPr/>
          <p:nvPr/>
        </p:nvSpPr>
        <p:spPr>
          <a:xfrm>
            <a:off x="8430768" y="18653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Группа тестов 2 номер"/>
          <p:cNvSpPr txBox="1"/>
          <p:nvPr/>
        </p:nvSpPr>
        <p:spPr>
          <a:xfrm>
            <a:off x="843076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Группа тестов 2 текст"/>
          <p:cNvSpPr txBox="1"/>
          <p:nvPr/>
        </p:nvSpPr>
        <p:spPr>
          <a:xfrm>
            <a:off x="896112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Отмена и удаление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 подтверждением, отметка «Выполнена»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Т-09 – Т-11</a:t>
            </a:r>
            <a:endParaRPr lang="en-US" sz="1600" dirty="0"/>
          </a:p>
        </p:txBody>
      </p:sp>
      <p:sp>
        <p:nvSpPr>
          <p:cNvPr id="13" name="Группа тестов 3"/>
          <p:cNvSpPr/>
          <p:nvPr/>
        </p:nvSpPr>
        <p:spPr>
          <a:xfrm>
            <a:off x="4754880" y="29718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Группа тестов 3 круг"/>
          <p:cNvSpPr/>
          <p:nvPr/>
        </p:nvSpPr>
        <p:spPr>
          <a:xfrm>
            <a:off x="4956048" y="34655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Группа тестов 3 номер"/>
          <p:cNvSpPr txBox="1"/>
          <p:nvPr/>
        </p:nvSpPr>
        <p:spPr>
          <a:xfrm>
            <a:off x="4956048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Группа тестов 3 текст"/>
          <p:cNvSpPr txBox="1"/>
          <p:nvPr/>
        </p:nvSpPr>
        <p:spPr>
          <a:xfrm>
            <a:off x="5486400" y="3063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Проверка полей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пустая форма, телефон, дата, график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Т-02, Т-04 – Т-06</a:t>
            </a:r>
            <a:endParaRPr lang="en-US" sz="1600" dirty="0"/>
          </a:p>
        </p:txBody>
      </p:sp>
      <p:sp>
        <p:nvSpPr>
          <p:cNvPr id="17" name="Группа тестов 4"/>
          <p:cNvSpPr/>
          <p:nvPr/>
        </p:nvSpPr>
        <p:spPr>
          <a:xfrm>
            <a:off x="8229600" y="29718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Группа тестов 4 круг"/>
          <p:cNvSpPr/>
          <p:nvPr/>
        </p:nvSpPr>
        <p:spPr>
          <a:xfrm>
            <a:off x="8430768" y="34655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Группа тестов 4 номер"/>
          <p:cNvSpPr txBox="1"/>
          <p:nvPr/>
        </p:nvSpPr>
        <p:spPr>
          <a:xfrm>
            <a:off x="8430768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Группа тестов 4 текст"/>
          <p:cNvSpPr txBox="1"/>
          <p:nvPr/>
        </p:nvSpPr>
        <p:spPr>
          <a:xfrm>
            <a:off x="8961120" y="3063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Занятость мастера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пересечение по времени не допускается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Т-07</a:t>
            </a:r>
            <a:endParaRPr lang="en-US" sz="1600" dirty="0"/>
          </a:p>
        </p:txBody>
      </p:sp>
      <p:sp>
        <p:nvSpPr>
          <p:cNvPr id="21" name="Группа тестов 5"/>
          <p:cNvSpPr/>
          <p:nvPr/>
        </p:nvSpPr>
        <p:spPr>
          <a:xfrm>
            <a:off x="475488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Группа тестов 5 круг"/>
          <p:cNvSpPr/>
          <p:nvPr/>
        </p:nvSpPr>
        <p:spPr>
          <a:xfrm>
            <a:off x="4956048" y="50657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Группа тестов 5 номер"/>
          <p:cNvSpPr txBox="1"/>
          <p:nvPr/>
        </p:nvSpPr>
        <p:spPr>
          <a:xfrm>
            <a:off x="4956048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Группа тестов 5 текст"/>
          <p:cNvSpPr txBox="1"/>
          <p:nvPr/>
        </p:nvSpPr>
        <p:spPr>
          <a:xfrm>
            <a:off x="548640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Сохранение и поиск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данные после F5, поиск и фильтры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Т-12, Т-13</a:t>
            </a:r>
            <a:endParaRPr lang="en-US" sz="1600" dirty="0"/>
          </a:p>
        </p:txBody>
      </p:sp>
      <p:sp>
        <p:nvSpPr>
          <p:cNvPr id="25" name="Группа тестов 6"/>
          <p:cNvSpPr/>
          <p:nvPr/>
        </p:nvSpPr>
        <p:spPr>
          <a:xfrm>
            <a:off x="822960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Группа тестов 6 круг"/>
          <p:cNvSpPr/>
          <p:nvPr/>
        </p:nvSpPr>
        <p:spPr>
          <a:xfrm>
            <a:off x="8430768" y="506577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Группа тестов 6 номер"/>
          <p:cNvSpPr txBox="1"/>
          <p:nvPr/>
        </p:nvSpPr>
        <p:spPr>
          <a:xfrm>
            <a:off x="8430768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Группа тестов 6 текст"/>
          <p:cNvSpPr txBox="1"/>
          <p:nvPr/>
        </p:nvSpPr>
        <p:spPr>
          <a:xfrm>
            <a:off x="896112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Безопасность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HTML как текст, повреждённые данные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Т-14, Т-15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 и итоги</a:t>
            </a:r>
            <a:endParaRPr lang="en-US" sz="3600" dirty="0"/>
          </a:p>
        </p:txBody>
      </p:sp>
      <p:sp>
        <p:nvSpPr>
          <p:cNvPr id="3" name="Шаг 1"/>
          <p:cNvSpPr/>
          <p:nvPr/>
        </p:nvSpPr>
        <p:spPr>
          <a:xfrm>
            <a:off x="640080" y="146304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Шаг 1 текст"/>
          <p:cNvSpPr txBox="1"/>
          <p:nvPr/>
        </p:nvSpPr>
        <p:spPr>
          <a:xfrm>
            <a:off x="64008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Добавить</a:t>
            </a:r>
            <a:endParaRPr lang="en-US" sz="1700" dirty="0"/>
          </a:p>
        </p:txBody>
      </p:sp>
      <p:sp>
        <p:nvSpPr>
          <p:cNvPr id="5" name="Шаг 1 подпись"/>
          <p:cNvSpPr txBox="1"/>
          <p:nvPr/>
        </p:nvSpPr>
        <p:spPr>
          <a:xfrm>
            <a:off x="6400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запись на завтра, 10:00</a:t>
            </a:r>
            <a:endParaRPr lang="en-US" sz="1400" dirty="0"/>
          </a:p>
        </p:txBody>
      </p:sp>
      <p:sp>
        <p:nvSpPr>
          <p:cNvPr id="6" name="Стрелка 1"/>
          <p:cNvSpPr/>
          <p:nvPr/>
        </p:nvSpPr>
        <p:spPr>
          <a:xfrm>
            <a:off x="3090672" y="1920240"/>
            <a:ext cx="310896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Шаг 2"/>
          <p:cNvSpPr/>
          <p:nvPr/>
        </p:nvSpPr>
        <p:spPr>
          <a:xfrm>
            <a:off x="3474720" y="146304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Шаг 2 текст"/>
          <p:cNvSpPr txBox="1"/>
          <p:nvPr/>
        </p:nvSpPr>
        <p:spPr>
          <a:xfrm>
            <a:off x="347472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Изменить</a:t>
            </a:r>
            <a:endParaRPr lang="en-US" sz="1700" dirty="0"/>
          </a:p>
        </p:txBody>
      </p:sp>
      <p:sp>
        <p:nvSpPr>
          <p:cNvPr id="9" name="Шаг 2 подпись"/>
          <p:cNvSpPr txBox="1"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перенести время</a:t>
            </a:r>
            <a:endParaRPr lang="en-US" sz="1400" dirty="0"/>
          </a:p>
        </p:txBody>
      </p:sp>
      <p:sp>
        <p:nvSpPr>
          <p:cNvPr id="10" name="Стрелка 2"/>
          <p:cNvSpPr/>
          <p:nvPr/>
        </p:nvSpPr>
        <p:spPr>
          <a:xfrm>
            <a:off x="5925312" y="1920240"/>
            <a:ext cx="310896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Шаг 3"/>
          <p:cNvSpPr/>
          <p:nvPr/>
        </p:nvSpPr>
        <p:spPr>
          <a:xfrm>
            <a:off x="6309360" y="146304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Шаг 3 текст"/>
          <p:cNvSpPr txBox="1"/>
          <p:nvPr/>
        </p:nvSpPr>
        <p:spPr>
          <a:xfrm>
            <a:off x="630936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Отменить / удалить</a:t>
            </a:r>
            <a:endParaRPr lang="en-US" sz="1700" dirty="0"/>
          </a:p>
        </p:txBody>
      </p:sp>
      <p:sp>
        <p:nvSpPr>
          <p:cNvPr id="13" name="Шаг 3 подпись"/>
          <p:cNvSpPr txBox="1"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 подтверждением</a:t>
            </a:r>
            <a:endParaRPr lang="en-US" sz="1400" dirty="0"/>
          </a:p>
        </p:txBody>
      </p:sp>
      <p:sp>
        <p:nvSpPr>
          <p:cNvPr id="14" name="Стрелка 3"/>
          <p:cNvSpPr/>
          <p:nvPr/>
        </p:nvSpPr>
        <p:spPr>
          <a:xfrm>
            <a:off x="8759952" y="1920240"/>
            <a:ext cx="310896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Шаг 4"/>
          <p:cNvSpPr/>
          <p:nvPr/>
        </p:nvSpPr>
        <p:spPr>
          <a:xfrm>
            <a:off x="9144000" y="146304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Шаг 4 текст"/>
          <p:cNvSpPr txBox="1"/>
          <p:nvPr/>
        </p:nvSpPr>
        <p:spPr>
          <a:xfrm>
            <a:off x="91440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Обновить (F5)</a:t>
            </a:r>
            <a:endParaRPr lang="en-US" sz="1700" dirty="0"/>
          </a:p>
        </p:txBody>
      </p:sp>
      <p:sp>
        <p:nvSpPr>
          <p:cNvPr id="17" name="Шаг 4 подпись"/>
          <p:cNvSpPr txBox="1"/>
          <p:nvPr/>
        </p:nvSpPr>
        <p:spPr>
          <a:xfrm>
            <a:off x="91440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данные на месте</a:t>
            </a:r>
            <a:endParaRPr lang="en-US" sz="1400" dirty="0"/>
          </a:p>
        </p:txBody>
      </p:sp>
      <p:sp>
        <p:nvSpPr>
          <p:cNvPr id="18" name="Вклад заголовок"/>
          <p:cNvSpPr txBox="1"/>
          <p:nvPr/>
        </p:nvSpPr>
        <p:spPr>
          <a:xfrm>
            <a:off x="64008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Вклад участников</a:t>
            </a:r>
            <a:endParaRPr lang="en-US" sz="2000" dirty="0"/>
          </a:p>
        </p:txBody>
      </p:sp>
      <p:sp>
        <p:nvSpPr>
          <p:cNvPr id="19" name="Участник 1"/>
          <p:cNvSpPr/>
          <p:nvPr/>
        </p:nvSpPr>
        <p:spPr>
          <a:xfrm>
            <a:off x="640080" y="3657600"/>
            <a:ext cx="342900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Участник 1 текст"/>
          <p:cNvSpPr txBox="1"/>
          <p:nvPr/>
        </p:nvSpPr>
        <p:spPr>
          <a:xfrm>
            <a:off x="868680" y="3749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Фамилия И. О.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Аналитик: анализ, ТЗ, журнал изменений, тесты</a:t>
            </a:r>
            <a:endParaRPr lang="en-US" sz="1600" dirty="0"/>
          </a:p>
        </p:txBody>
      </p:sp>
      <p:sp>
        <p:nvSpPr>
          <p:cNvPr id="21" name="Участник 2"/>
          <p:cNvSpPr/>
          <p:nvPr/>
        </p:nvSpPr>
        <p:spPr>
          <a:xfrm>
            <a:off x="4343400" y="3657600"/>
            <a:ext cx="342900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Участник 2 текст"/>
          <p:cNvSpPr txBox="1"/>
          <p:nvPr/>
        </p:nvSpPr>
        <p:spPr>
          <a:xfrm>
            <a:off x="4572000" y="3749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Фамилия И. О.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Проектировщик: диаграммы, модель данных, макеты, отчёт</a:t>
            </a:r>
            <a:endParaRPr lang="en-US" sz="1600" dirty="0"/>
          </a:p>
        </p:txBody>
      </p:sp>
      <p:sp>
        <p:nvSpPr>
          <p:cNvPr id="23" name="Участник 3"/>
          <p:cNvSpPr/>
          <p:nvPr/>
        </p:nvSpPr>
        <p:spPr>
          <a:xfrm>
            <a:off x="8046720" y="3657600"/>
            <a:ext cx="342900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Участник 3 текст"/>
          <p:cNvSpPr txBox="1"/>
          <p:nvPr/>
        </p:nvSpPr>
        <p:spPr>
          <a:xfrm>
            <a:off x="8275320" y="3749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Фамилия И. О.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Разработчик: HTML, CSS, JavaScript, localStorage</a:t>
            </a:r>
            <a:endParaRPr lang="en-US" sz="1600" dirty="0"/>
          </a:p>
        </p:txBody>
      </p:sp>
      <p:sp>
        <p:nvSpPr>
          <p:cNvPr id="25" name="Благодарность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 Готовы ответить на вопросы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vanda">
  <a:themeElements>
    <a:clrScheme name="Lavanda">
      <a:dk1>
        <a:srgbClr val="24212B"/>
      </a:dk1>
      <a:lt1>
        <a:srgbClr val="FFFFFF"/>
      </a:lt1>
      <a:dk2>
        <a:srgbClr val="2A2140"/>
      </a:dk2>
      <a:lt2>
        <a:srgbClr val="EFEAFB"/>
      </a:lt2>
      <a:accent1>
        <a:srgbClr val="6B4FBB"/>
      </a:accent1>
      <a:accent2>
        <a:srgbClr val="E07B39"/>
      </a:accent2>
      <a:accent3>
        <a:srgbClr val="2E7D4F"/>
      </a:accent3>
      <a:accent4>
        <a:srgbClr val="2F8F9D"/>
      </a:accent4>
      <a:accent5>
        <a:srgbClr val="C0392B"/>
      </a:accent5>
      <a:accent6>
        <a:srgbClr val="8E7CC3"/>
      </a:accent6>
      <a:hlink>
        <a:srgbClr val="6B4FBB"/>
      </a:hlink>
      <a:folHlink>
        <a:srgbClr val="563C9E"/>
      </a:folHlink>
    </a:clrScheme>
    <a:fontScheme name="Lavan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Запись на услуги — защита проекта</dc:title>
  <dc:subject>PptxGenJS Presentation</dc:subject>
  <dc:creator>Команда ПО2401</dc:creator>
  <cp:lastModifiedBy>Команда ПО2401</cp:lastModifiedBy>
  <cp:revision>1</cp:revision>
  <dcterms:created xsi:type="dcterms:W3CDTF">2026-10-14T09:27:51Z</dcterms:created>
  <dcterms:modified xsi:type="dcterms:W3CDTF">2026-10-14T09:27:51Z</dcterms:modified>
</cp:coreProperties>
</file>